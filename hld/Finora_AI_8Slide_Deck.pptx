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28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Finora AI unifies POS, OCR, fraud prevention, and AI advisory into a single platform built to protect and grow MSME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AI · SMART FINANCE, SAFER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5623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Shop Management &amp;
AI Protection
</a:t>
            </a:r>
            <a:r>
              <a:rPr lang="en-US" sz="3200" b="1" dirty="0">
                <a:solidFill>
                  <a:srgbClr val="B47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Business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financial intelligence, POS &amp; anomaly prevention platform for retail and MSMEs — instant bill scanning, GST tax reports, duplicate-bill alerts, and 24/7 AI chat assistance.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finora/icons/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5087722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001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Bill Scanner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54864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9" name="Image 1" descr="/home/claude/finora/icons/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554492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5458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Bill Alert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5943600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2" name="Image 2" descr="/home/claude/finora/icons/Fi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6002122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916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GST Tax Filing</a:t>
            </a:r>
            <a:endParaRPr lang="en-US" sz="1250" dirty="0"/>
          </a:p>
        </p:txBody>
      </p:sp>
      <p:sp>
        <p:nvSpPr>
          <p:cNvPr id="43" name="Shape 37"/>
          <p:cNvSpPr/>
          <p:nvPr/>
        </p:nvSpPr>
        <p:spPr>
          <a:xfrm>
            <a:off x="6995160" y="5303520"/>
            <a:ext cx="982980" cy="320040"/>
          </a:xfrm>
          <a:prstGeom prst="roundRect">
            <a:avLst>
              <a:gd name="adj" fmla="val 48571"/>
            </a:avLst>
          </a:prstGeom>
          <a:solidFill>
            <a:srgbClr val="1B294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995160" y="5303520"/>
            <a:ext cx="982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READER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8087868" y="530352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1B294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087868" y="5303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TAX AUTO</a:t>
            </a:r>
            <a:endParaRPr lang="en-US" sz="750" dirty="0"/>
          </a:p>
        </p:txBody>
      </p:sp>
      <p:sp>
        <p:nvSpPr>
          <p:cNvPr id="47" name="Shape 41"/>
          <p:cNvSpPr/>
          <p:nvPr/>
        </p:nvSpPr>
        <p:spPr>
          <a:xfrm>
            <a:off x="9249156" y="530352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1B294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249156" y="5303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10273284" y="530352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1B294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0273284" y="5303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F79410D-71B2-23B6-8C4A-7CC53E171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180" y="1577340"/>
            <a:ext cx="3905795" cy="3181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Financial Leaks Across MSMEs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27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operational gaps quietly draining revenue and time every day.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703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4688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/home/claude/finora/icons/Fi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26334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832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Entry Drain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managers lose 15+ hours weekly re-keying paper vendor invoices into spreadsheets.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148840"/>
            <a:ext cx="2606040" cy="3703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4688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1" descr="/home/claude/finora/icons/FiAlert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6334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3832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Fraud &amp; Double Billing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160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of revenue lost to duplicate invoices, price spikes, and unauthorized charges.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148840"/>
            <a:ext cx="2606040" cy="3703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69480" y="24688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7" name="Image 2" descr="/home/claude/finora/icons/Fi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6334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3832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Mismatch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92240" y="4160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between checkout counters and stock rooms causes stockouts or trapped capital.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148840"/>
            <a:ext cx="2606040" cy="37033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04120" y="24688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2" name="Image 3" descr="/home/claude/finora/icons/FiPer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263347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38328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Compliance Errors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0" y="4160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CGST/SGST/IGST mistakes cause missed Input Tax Credit and audit penalties.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FINORA AI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All-in-One Financial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27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engines replace fragmented tools, spreadsheets, and manual checks.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628900"/>
            <a:ext cx="822960" cy="82296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7" name="Image 0" descr="/home/claude/finora/icons/Fi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28264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77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POS Billing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277063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counter checkout with instant digital receipts and automated stock sync.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2628900"/>
            <a:ext cx="822960" cy="82296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2" name="Image 1" descr="/home/claude/finora/icons/Fi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28264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77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OCR Ingestion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98080" y="277063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OCR v2 converts paper vendor bills into structured records in seconds.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96112" y="468630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7" name="Image 2" descr="/home/claude/finora/icons/Fi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" y="48838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434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Fraud Guard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920240" y="482803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check every invoice for duplicates, price variance, and invalid tax numbers.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42062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73952" y="4686300"/>
            <a:ext cx="822960" cy="8229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3" descr="/home/claude/finora/icons/Fi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462" y="488381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434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Groq-Powered AI Assistant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98080" y="482803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Llama-3.3-70b advisor delivers instant answers on stock, sales, and margins.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Checkout &amp; Vision OCR Ingestion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270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billing at the counter, paired with automated vendor-bill digitization.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POS Billing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7" name="Image 0" descr="/home/claude/finora/icons/Fi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6353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4871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Sub-Second Checkout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80160" y="2761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 with instant item lookup.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410712"/>
            <a:ext cx="502920" cy="50292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1" name="Image 1" descr="/home/claude/finora/icons/Fi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53141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Tax Calc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8016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GST and margin computation per sale.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5" name="Image 2" descr="/home/claude/finora/icons/Fi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4427525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279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Receipts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280160" y="45537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/ Email receipts, automatically.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OCR Document Intelligence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309360" y="25146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3" descr="/home/claude/finora/icons/Fi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263530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2487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Multi-Format Ingestion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949440" y="27614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JPG, WEBP, and multi-page PDF uploads.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309360" y="3410712"/>
            <a:ext cx="502920" cy="50292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24" name="Image 4" descr="/home/claude/finora/icons/Fi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061" y="3531413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4944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Dual-Engine Processing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94944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OCR v2 with local Tesseract.js fallback.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309360" y="4306824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5" descr="/home/claude/finora/icons/FiAlert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061" y="4427525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49440" y="42793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Verification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949440" y="45537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Sub-70% confidence extracts trigger human review.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989320" y="2011680"/>
            <a:ext cx="0" cy="4206240"/>
          </a:xfrm>
          <a:prstGeom prst="line">
            <a:avLst/>
          </a:prstGeom>
          <a:noFill/>
          <a:ln w="12700">
            <a:solidFill>
              <a:srgbClr val="ECE3D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Prevention &amp; Your 24/7 Virtual CFO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&amp; Fraud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41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Invoice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289864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E7D9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2898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474720"/>
            <a:ext cx="5212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Alert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560320" y="404164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EE7D9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4041648"/>
            <a:ext cx="2866644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0" descr="/home/claude/finora/icons/FiAlertOctag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6460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444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 detection across vendor, date, amount.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19" name="Image 1" descr="/home/claude/finora/icons/Fi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45896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Telegram escalation for high-risk invoices.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35508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 Financial Advisor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23" name="Image 2" descr="/home/claude/finora/icons/FiDollar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781" y="2543861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Advisor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995160" y="2670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analysis &amp; cash flow guidance.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355080" y="3291840"/>
            <a:ext cx="502920" cy="50292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27" name="Image 3" descr="/home/claude/finora/icons/FiPa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781" y="3412541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3264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Advisor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99516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&amp; slow-seller recommendations.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4" descr="/home/claude/finora/icons/Fi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781" y="428122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95160" y="4133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Specialist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6995160" y="4407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trust scoring &amp; cost comparisons.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355080" y="50292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5" descr="/home/claude/finora/icons/FiTrending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5781" y="5149901"/>
            <a:ext cx="261518" cy="26151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95160" y="5001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Strategist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995160" y="5276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enhancement &amp; promotion tactics.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989320" y="2011680"/>
            <a:ext cx="0" cy="4206240"/>
          </a:xfrm>
          <a:prstGeom prst="line">
            <a:avLst/>
          </a:prstGeom>
          <a:noFill/>
          <a:ln w="12700">
            <a:solidFill>
              <a:srgbClr val="ECE3D4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Security &amp; Automated GST Compliance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 &amp; Security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/home/claude/finora/icons/Fi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5895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41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Shop-Level Isolation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80160" y="2715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owner_id scoping across all database queries.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364992"/>
            <a:ext cx="502920" cy="50292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0" name="Image 1" descr="/home/claude/finora/icons/Fi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485693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801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policies enforce DB-level separation.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261104"/>
            <a:ext cx="502920" cy="50292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14" name="Image 2" descr="/home/claude/finora/icons/FiFile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4381805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233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280160" y="4507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user, role, timestamp.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355080" y="1920240"/>
            <a:ext cx="51206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29400" y="2121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Tax Breakdown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629400" y="2560320"/>
            <a:ext cx="4572000" cy="530352"/>
          </a:xfrm>
          <a:prstGeom prst="roundRect">
            <a:avLst>
              <a:gd name="adj" fmla="val 17241"/>
            </a:avLst>
          </a:prstGeom>
          <a:solidFill>
            <a:srgbClr val="FBF8F3"/>
          </a:solidFill>
          <a:ln/>
        </p:spPr>
      </p:sp>
      <p:sp>
        <p:nvSpPr>
          <p:cNvPr id="20" name="Shape 15"/>
          <p:cNvSpPr/>
          <p:nvPr/>
        </p:nvSpPr>
        <p:spPr>
          <a:xfrm>
            <a:off x="6812280" y="2798064"/>
            <a:ext cx="118872" cy="118872"/>
          </a:xfrm>
          <a:prstGeom prst="ellipse">
            <a:avLst/>
          </a:prstGeom>
          <a:solidFill>
            <a:srgbClr val="D9A455"/>
          </a:solidFill>
          <a:ln/>
        </p:spPr>
      </p:sp>
      <p:sp>
        <p:nvSpPr>
          <p:cNvPr id="21" name="Text 16"/>
          <p:cNvSpPr/>
          <p:nvPr/>
        </p:nvSpPr>
        <p:spPr>
          <a:xfrm>
            <a:off x="7086600" y="25603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104120" y="256032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A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629400" y="3200400"/>
            <a:ext cx="4572000" cy="530352"/>
          </a:xfrm>
          <a:prstGeom prst="roundRect">
            <a:avLst>
              <a:gd name="adj" fmla="val 17241"/>
            </a:avLst>
          </a:prstGeom>
          <a:solidFill>
            <a:srgbClr val="FBF8F3"/>
          </a:solidFill>
          <a:ln/>
        </p:spPr>
      </p:sp>
      <p:sp>
        <p:nvSpPr>
          <p:cNvPr id="24" name="Shape 19"/>
          <p:cNvSpPr/>
          <p:nvPr/>
        </p:nvSpPr>
        <p:spPr>
          <a:xfrm>
            <a:off x="6812280" y="3438144"/>
            <a:ext cx="118872" cy="118872"/>
          </a:xfrm>
          <a:prstGeom prst="ellipse">
            <a:avLst/>
          </a:prstGeom>
          <a:solidFill>
            <a:srgbClr val="4F63D2"/>
          </a:solidFill>
          <a:ln/>
        </p:spPr>
      </p:sp>
      <p:sp>
        <p:nvSpPr>
          <p:cNvPr id="25" name="Text 20"/>
          <p:cNvSpPr/>
          <p:nvPr/>
        </p:nvSpPr>
        <p:spPr>
          <a:xfrm>
            <a:off x="7086600" y="32004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104120" y="32004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6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629400" y="3840480"/>
            <a:ext cx="4572000" cy="530352"/>
          </a:xfrm>
          <a:prstGeom prst="roundRect">
            <a:avLst>
              <a:gd name="adj" fmla="val 17241"/>
            </a:avLst>
          </a:prstGeom>
          <a:solidFill>
            <a:srgbClr val="FBF8F3"/>
          </a:solidFill>
          <a:ln/>
        </p:spPr>
      </p:sp>
      <p:sp>
        <p:nvSpPr>
          <p:cNvPr id="28" name="Shape 23"/>
          <p:cNvSpPr/>
          <p:nvPr/>
        </p:nvSpPr>
        <p:spPr>
          <a:xfrm>
            <a:off x="6812280" y="4078224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4"/>
          <p:cNvSpPr/>
          <p:nvPr/>
        </p:nvSpPr>
        <p:spPr>
          <a:xfrm>
            <a:off x="7086600" y="384048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IGST (inter-state)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104120" y="384048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629400" y="4526280"/>
            <a:ext cx="4572000" cy="0"/>
          </a:xfrm>
          <a:prstGeom prst="line">
            <a:avLst/>
          </a:prstGeom>
          <a:noFill/>
          <a:ln w="12700">
            <a:solidFill>
              <a:srgbClr val="ECE3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9400" y="4663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Reconciled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9738360" y="4663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₹42,180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6629400" y="51023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GSTR-1 &amp; GSTR-3B summary reports, HSN mapping, and ITC tracking — fully automated.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989320" y="2011680"/>
            <a:ext cx="0" cy="4206240"/>
          </a:xfrm>
          <a:prstGeom prst="line">
            <a:avLst/>
          </a:prstGeom>
          <a:noFill/>
          <a:ln w="12700">
            <a:solidFill>
              <a:srgbClr val="ECE3D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 — Stack &amp; Strategic Roadmap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Technology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05456"/>
            <a:ext cx="502920" cy="50292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7" name="Image 0" descr="/home/claude/finora/icons/Fi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" y="2618613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68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80360" y="24688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5 · Recharts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3419856"/>
            <a:ext cx="502920" cy="50292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2" name="Image 1" descr="/home/claude/finora/icons/Fi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29" y="3533013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83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80360" y="33832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· Express 4.19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334256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7" name="Image 2" descr="/home/claude/finora/icons/Fi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29" y="4447413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976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880360" y="42976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· Redis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5120640"/>
            <a:ext cx="5166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4672" y="5248656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3" descr="/home/claude/finora/icons/Fi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29" y="5361813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2120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/ OCR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880360" y="5212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 · Nemotron OCR · XGBoost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30936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Roadmap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309360" y="2377440"/>
            <a:ext cx="5212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92240" y="2596896"/>
            <a:ext cx="548640" cy="54864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28" name="Image 4" descr="/home/claude/finora/icons/FiFl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3914" y="2728570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25237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CURRENT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223760" y="279806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— POS, OCR, Fraud Engine, AI Assistant live today.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309360" y="3675888"/>
            <a:ext cx="5212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92240" y="3895344"/>
            <a:ext cx="548640" cy="54864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33" name="Image 5" descr="/home/claude/finora/icons/FiTrending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3914" y="4027018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F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NEXT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7223760" y="4096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split; native iOS/Android mobile apps.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309360" y="4974336"/>
            <a:ext cx="5212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CE3D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92240" y="519379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8" name="Image 6" descr="/home/claude/finora/icons/FiEy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3914" y="5325466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22376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VISION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7223760" y="5394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POS, automated CA filing, B2B supplier marketplace.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035040" y="2011680"/>
            <a:ext cx="0" cy="4114800"/>
          </a:xfrm>
          <a:prstGeom prst="line">
            <a:avLst/>
          </a:prstGeom>
          <a:noFill/>
          <a:ln w="12700">
            <a:solidFill>
              <a:srgbClr val="ECE3D4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050" b="1" kern="0" spc="50" dirty="0">
                <a:solidFill>
                  <a:srgbClr val="B47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MSMEs With Finora AI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revenue protection to autonomous growth intelligence — one unified platform.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B294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606040"/>
            <a:ext cx="685800" cy="685800"/>
          </a:xfrm>
          <a:prstGeom prst="ellipse">
            <a:avLst/>
          </a:prstGeom>
          <a:solidFill>
            <a:srgbClr val="D9A455"/>
          </a:solidFill>
          <a:ln/>
        </p:spPr>
      </p:sp>
      <p:pic>
        <p:nvPicPr>
          <p:cNvPr id="6" name="Image 0" descr="/home/claude/finora/icons/Fi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7706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Revenue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vendor double-billing and price inflation with OCR &amp; ML fraud detection.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23317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B2942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606040"/>
            <a:ext cx="685800" cy="685800"/>
          </a:xfrm>
          <a:prstGeom prst="ellipse">
            <a:avLst/>
          </a:prstGeom>
          <a:solidFill>
            <a:srgbClr val="4F63D2"/>
          </a:solidFill>
          <a:ln/>
        </p:spPr>
      </p:sp>
      <p:pic>
        <p:nvPicPr>
          <p:cNvPr id="11" name="Image 1" descr="/home/claude/finora/icons/Fi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706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Time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15+ hours of manual data entry weekly with automated POS &amp; parsing.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83880" y="23317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B29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606040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finora/icons/FiTrending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7706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Growth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smarter inventory and financial decisions with your 24/7 AI Virtual CFO.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13333"/>
            </a:avLst>
          </a:prstGeom>
          <a:solidFill>
            <a:srgbClr val="D9A455"/>
          </a:solidFill>
          <a:ln/>
        </p:spPr>
      </p:sp>
      <p:sp>
        <p:nvSpPr>
          <p:cNvPr id="20" name="Text 15"/>
          <p:cNvSpPr/>
          <p:nvPr/>
        </p:nvSpPr>
        <p:spPr>
          <a:xfrm>
            <a:off x="1051560" y="50292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Today — Experience The Future Of Retail Financial Intelligence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10561320" y="5294376"/>
            <a:ext cx="438912" cy="438912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3" descr="/home/claude/finora/icons/FiArrowR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0075" y="539313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</a:t>
            </a:r>
            <a:r>
              <a:rPr lang="en-US" sz="1100" b="1" kern="0" spc="100" dirty="0">
                <a:solidFill>
                  <a:srgbClr val="D9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Yukesh Kanna U</cp:lastModifiedBy>
  <cp:revision>2</cp:revision>
  <dcterms:created xsi:type="dcterms:W3CDTF">2026-08-10T05:27:21Z</dcterms:created>
  <dcterms:modified xsi:type="dcterms:W3CDTF">2026-08-10T05:31:29Z</dcterms:modified>
</cp:coreProperties>
</file>